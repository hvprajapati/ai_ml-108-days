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9" r:id="rId4"/>
    <p:sldId id="302" r:id="rId5"/>
    <p:sldId id="290" r:id="rId6"/>
    <p:sldId id="303" r:id="rId7"/>
    <p:sldId id="291" r:id="rId8"/>
    <p:sldId id="292" r:id="rId9"/>
    <p:sldId id="304" r:id="rId10"/>
    <p:sldId id="279" r:id="rId11"/>
    <p:sldId id="280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A83C0"/>
    <a:srgbClr val="E9B115"/>
    <a:srgbClr val="284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6348D-CBF3-45CE-AC51-769C2203D1B6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8E36A-D260-42E8-AE69-589A167AF4F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9DB85-5EE8-4E80-AD27-8C22B74789B3}" type="datetimeFigureOut">
              <a:rPr lang="en-US" smtClean="0"/>
              <a:pPr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348" y="928670"/>
            <a:ext cx="7772400" cy="1470025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E9B115"/>
                </a:solidFill>
              </a:rPr>
              <a:t>Strings </a:t>
            </a:r>
            <a:r>
              <a:rPr lang="en-US" b="1" dirty="0"/>
              <a:t>in </a:t>
            </a:r>
            <a:r>
              <a:rPr lang="en-US" b="1" dirty="0">
                <a:solidFill>
                  <a:srgbClr val="0A83C0"/>
                </a:solidFill>
              </a:rPr>
              <a:t>Python</a:t>
            </a:r>
          </a:p>
        </p:txBody>
      </p:sp>
      <p:sp>
        <p:nvSpPr>
          <p:cNvPr id="1026" name="AutoShape 2" descr="Python Logo png download - 640*480 - Free Transparent Python pn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Python Logo png download - 640*480 - Free Transparent Python pn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 descr="C:\Users\Exam\Downloads\download (2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2786058"/>
            <a:ext cx="2143125" cy="21431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35743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E9B115"/>
                </a:solidFill>
              </a:rPr>
              <a:t>String</a:t>
            </a:r>
            <a:r>
              <a:rPr lang="en-US" sz="3600" dirty="0"/>
              <a:t> </a:t>
            </a:r>
            <a:r>
              <a:rPr lang="en-US" sz="3600" b="1" dirty="0">
                <a:solidFill>
                  <a:srgbClr val="0A83C0"/>
                </a:solidFill>
              </a:rPr>
              <a:t>Declaration</a:t>
            </a:r>
            <a:endParaRPr lang="en-US" sz="3600" b="1" dirty="0">
              <a:solidFill>
                <a:srgbClr val="2845A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E9B115"/>
                </a:solidFill>
              </a:rPr>
              <a:t>Strings </a:t>
            </a:r>
            <a:r>
              <a:rPr lang="en-US" sz="3600" b="1" dirty="0"/>
              <a:t>in</a:t>
            </a:r>
            <a:r>
              <a:rPr lang="en-US" sz="3600" b="1" dirty="0">
                <a:solidFill>
                  <a:srgbClr val="E9B115"/>
                </a:solidFill>
              </a:rPr>
              <a:t> </a:t>
            </a:r>
            <a:r>
              <a:rPr lang="en-US" sz="3600" b="1" dirty="0">
                <a:solidFill>
                  <a:srgbClr val="0A83C0"/>
                </a:solidFill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229600" cy="5357850"/>
          </a:xfrm>
        </p:spPr>
        <p:txBody>
          <a:bodyPr>
            <a:normAutofit/>
          </a:bodyPr>
          <a:lstStyle/>
          <a:p>
            <a:pPr algn="just"/>
            <a:r>
              <a:rPr lang="en-US" sz="2400" dirty="0"/>
              <a:t>In python, strings can be created by enclosing the character or the sequence of characters in the quotes. </a:t>
            </a:r>
          </a:p>
          <a:p>
            <a:pPr algn="just"/>
            <a:r>
              <a:rPr lang="en-US" sz="2400" dirty="0"/>
              <a:t>Python allows us to use single quotes, double quotes, or triple quotes to create strings.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  <a:p>
            <a:pPr algn="just"/>
            <a:r>
              <a:rPr lang="en-US" sz="2400" dirty="0"/>
              <a:t>In python, strings are treated as the sequence of characters which means that python doesn't support the character data type instead a single character written as </a:t>
            </a:r>
            <a:r>
              <a:rPr lang="en-US" sz="2400" b="1" dirty="0"/>
              <a:t>'p'</a:t>
            </a:r>
            <a:r>
              <a:rPr lang="en-US" sz="2400" dirty="0"/>
              <a:t> is treated as the string of length 1.</a:t>
            </a:r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57224" y="2857496"/>
            <a:ext cx="40719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0A83C0"/>
                </a:solidFill>
                <a:latin typeface="Consolas"/>
              </a:rPr>
              <a:t>Example: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'Hello Python'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str2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"Hello Python"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str3 = </a:t>
            </a:r>
            <a:r>
              <a:rPr lang="en-US" sz="2000" dirty="0">
                <a:solidFill>
                  <a:srgbClr val="008000"/>
                </a:solidFill>
                <a:latin typeface="Consolas"/>
              </a:rPr>
              <a:t>'''Hello Python'''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42910" y="264318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9B115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String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600" b="1" dirty="0">
                <a:solidFill>
                  <a:srgbClr val="0A83C0"/>
                </a:solidFill>
                <a:latin typeface="+mj-lt"/>
                <a:ea typeface="+mj-ea"/>
                <a:cs typeface="+mj-cs"/>
              </a:rPr>
              <a:t>Indexing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2845A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E9B115"/>
                </a:solidFill>
              </a:rPr>
              <a:t>String Indexing </a:t>
            </a:r>
            <a:r>
              <a:rPr lang="en-US" sz="3600" b="1" dirty="0"/>
              <a:t>in</a:t>
            </a:r>
            <a:r>
              <a:rPr lang="en-US" sz="3600" b="1" dirty="0">
                <a:solidFill>
                  <a:srgbClr val="E9B115"/>
                </a:solidFill>
              </a:rPr>
              <a:t> </a:t>
            </a:r>
            <a:r>
              <a:rPr lang="en-US" sz="3600" b="1" dirty="0">
                <a:solidFill>
                  <a:srgbClr val="0A83C0"/>
                </a:solidFill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35785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/>
              <a:t>Like other programming languages, the indexing of the python strings starts from 0. </a:t>
            </a:r>
            <a:r>
              <a:rPr lang="en-US" sz="2400" b="1" dirty="0"/>
              <a:t>For example</a:t>
            </a:r>
            <a:r>
              <a:rPr lang="en-US" sz="2400" dirty="0"/>
              <a:t>, the string "HELLO" is indexed as given in the below figure.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en-US" sz="2400" dirty="0" err="1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2400" dirty="0">
                <a:solidFill>
                  <a:srgbClr val="FF00FF"/>
                </a:solidFill>
                <a:latin typeface="Consolas"/>
              </a:rPr>
              <a:t>"HELLO" </a:t>
            </a:r>
            <a:endParaRPr lang="en-US" sz="2400" dirty="0"/>
          </a:p>
          <a:p>
            <a:pPr>
              <a:buNone/>
            </a:pPr>
            <a:br>
              <a:rPr lang="en-US" sz="2400" dirty="0"/>
            </a:br>
            <a:r>
              <a:rPr lang="pt-BR" sz="2400" dirty="0">
                <a:solidFill>
                  <a:srgbClr val="008080"/>
                </a:solidFill>
                <a:latin typeface="Consolas"/>
              </a:rPr>
              <a:t>str</a:t>
            </a:r>
            <a:r>
              <a:rPr lang="pt-BR" sz="24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pt-BR" sz="2400" dirty="0">
                <a:solidFill>
                  <a:srgbClr val="800080"/>
                </a:solidFill>
                <a:latin typeface="Consolas"/>
              </a:rPr>
              <a:t>0</a:t>
            </a:r>
            <a:r>
              <a:rPr lang="pt-BR" sz="2400" dirty="0">
                <a:solidFill>
                  <a:srgbClr val="000000"/>
                </a:solidFill>
                <a:latin typeface="Consolas"/>
              </a:rPr>
              <a:t>]=H</a:t>
            </a:r>
            <a:r>
              <a:rPr lang="pt-BR" sz="2400" dirty="0">
                <a:latin typeface="Consolas"/>
              </a:rPr>
              <a:t> </a:t>
            </a:r>
          </a:p>
          <a:p>
            <a:pPr>
              <a:buNone/>
            </a:pPr>
            <a:r>
              <a:rPr lang="pt-BR" sz="2400" dirty="0">
                <a:solidFill>
                  <a:srgbClr val="008080"/>
                </a:solidFill>
                <a:latin typeface="Consolas"/>
              </a:rPr>
              <a:t>	str</a:t>
            </a:r>
            <a:r>
              <a:rPr lang="pt-BR" sz="24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pt-BR" sz="2400" dirty="0">
                <a:solidFill>
                  <a:srgbClr val="800080"/>
                </a:solidFill>
                <a:latin typeface="Consolas"/>
              </a:rPr>
              <a:t>1</a:t>
            </a:r>
            <a:r>
              <a:rPr lang="pt-BR" sz="2400" dirty="0">
                <a:solidFill>
                  <a:srgbClr val="000000"/>
                </a:solidFill>
                <a:latin typeface="Consolas"/>
              </a:rPr>
              <a:t>]=E</a:t>
            </a:r>
            <a:r>
              <a:rPr lang="pt-BR" sz="2400" dirty="0">
                <a:latin typeface="Consolas"/>
              </a:rPr>
              <a:t> </a:t>
            </a:r>
          </a:p>
          <a:p>
            <a:pPr>
              <a:buNone/>
            </a:pPr>
            <a:r>
              <a:rPr lang="pt-BR" sz="2400" dirty="0">
                <a:solidFill>
                  <a:srgbClr val="008080"/>
                </a:solidFill>
                <a:latin typeface="Consolas"/>
              </a:rPr>
              <a:t>	str</a:t>
            </a:r>
            <a:r>
              <a:rPr lang="pt-BR" sz="24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pt-BR" sz="2400" dirty="0">
                <a:solidFill>
                  <a:srgbClr val="800080"/>
                </a:solidFill>
                <a:latin typeface="Consolas"/>
              </a:rPr>
              <a:t>4</a:t>
            </a:r>
            <a:r>
              <a:rPr lang="pt-BR" sz="2400" dirty="0">
                <a:solidFill>
                  <a:srgbClr val="000000"/>
                </a:solidFill>
                <a:latin typeface="Consolas"/>
              </a:rPr>
              <a:t>]=O</a:t>
            </a:r>
            <a:r>
              <a:rPr lang="pt-BR" sz="2400" dirty="0">
                <a:latin typeface="Consolas"/>
              </a:rPr>
              <a:t> </a:t>
            </a:r>
            <a:endParaRPr lang="en-US" sz="2400" dirty="0"/>
          </a:p>
          <a:p>
            <a:r>
              <a:rPr lang="en-US" sz="2400" dirty="0"/>
              <a:t>Python allows negative indexing for its sequences.</a:t>
            </a:r>
          </a:p>
          <a:p>
            <a:r>
              <a:rPr lang="en-US" sz="2400" dirty="0"/>
              <a:t>The index of -1 refers to the last item, -2 to the second last item and so on.</a:t>
            </a:r>
          </a:p>
          <a:p>
            <a:pPr>
              <a:buNone/>
            </a:pPr>
            <a:r>
              <a:rPr lang="en-US" sz="2400" dirty="0"/>
              <a:t>	</a:t>
            </a:r>
            <a:r>
              <a:rPr lang="it-IT" sz="2400" dirty="0">
                <a:solidFill>
                  <a:srgbClr val="008080"/>
                </a:solidFill>
                <a:latin typeface="Consolas"/>
              </a:rPr>
              <a:t>str</a:t>
            </a:r>
            <a:r>
              <a:rPr lang="it-IT" sz="2400" dirty="0">
                <a:solidFill>
                  <a:srgbClr val="000000"/>
                </a:solidFill>
                <a:latin typeface="Consolas"/>
              </a:rPr>
              <a:t>[-</a:t>
            </a:r>
            <a:r>
              <a:rPr lang="it-IT" sz="2400" dirty="0">
                <a:solidFill>
                  <a:srgbClr val="800080"/>
                </a:solidFill>
                <a:latin typeface="Consolas"/>
              </a:rPr>
              <a:t>1</a:t>
            </a:r>
            <a:r>
              <a:rPr lang="it-IT" sz="2400" dirty="0">
                <a:solidFill>
                  <a:srgbClr val="000000"/>
                </a:solidFill>
                <a:latin typeface="Consolas"/>
              </a:rPr>
              <a:t>]=O</a:t>
            </a:r>
            <a:r>
              <a:rPr lang="it-IT" sz="2400" dirty="0">
                <a:latin typeface="Consolas"/>
              </a:rPr>
              <a:t> </a:t>
            </a:r>
          </a:p>
          <a:p>
            <a:pPr>
              <a:buNone/>
            </a:pPr>
            <a:r>
              <a:rPr lang="it-IT" sz="2400" dirty="0">
                <a:solidFill>
                  <a:srgbClr val="008080"/>
                </a:solidFill>
                <a:latin typeface="Consolas"/>
              </a:rPr>
              <a:t>	str</a:t>
            </a:r>
            <a:r>
              <a:rPr lang="it-IT" sz="2400" dirty="0">
                <a:solidFill>
                  <a:srgbClr val="000000"/>
                </a:solidFill>
                <a:latin typeface="Consolas"/>
              </a:rPr>
              <a:t>[-</a:t>
            </a:r>
            <a:r>
              <a:rPr lang="it-IT" sz="2400" dirty="0">
                <a:solidFill>
                  <a:srgbClr val="800080"/>
                </a:solidFill>
                <a:latin typeface="Consolas"/>
              </a:rPr>
              <a:t>2</a:t>
            </a:r>
            <a:r>
              <a:rPr lang="it-IT" sz="2400" dirty="0">
                <a:solidFill>
                  <a:srgbClr val="000000"/>
                </a:solidFill>
                <a:latin typeface="Consolas"/>
              </a:rPr>
              <a:t>]=L</a:t>
            </a:r>
            <a:r>
              <a:rPr lang="it-IT" sz="2400" dirty="0">
                <a:latin typeface="Consolas"/>
              </a:rPr>
              <a:t> </a:t>
            </a:r>
          </a:p>
          <a:p>
            <a:pPr>
              <a:buNone/>
            </a:pPr>
            <a:r>
              <a:rPr lang="it-IT" sz="2400" dirty="0">
                <a:solidFill>
                  <a:srgbClr val="008080"/>
                </a:solidFill>
                <a:latin typeface="Consolas"/>
              </a:rPr>
              <a:t>	str</a:t>
            </a:r>
            <a:r>
              <a:rPr lang="it-IT" sz="2400" dirty="0">
                <a:solidFill>
                  <a:srgbClr val="000000"/>
                </a:solidFill>
                <a:latin typeface="Consolas"/>
              </a:rPr>
              <a:t>[-</a:t>
            </a:r>
            <a:r>
              <a:rPr lang="it-IT" sz="2400" dirty="0">
                <a:solidFill>
                  <a:srgbClr val="800080"/>
                </a:solidFill>
                <a:latin typeface="Consolas"/>
              </a:rPr>
              <a:t>4</a:t>
            </a:r>
            <a:r>
              <a:rPr lang="it-IT" sz="2400" dirty="0">
                <a:solidFill>
                  <a:srgbClr val="000000"/>
                </a:solidFill>
                <a:latin typeface="Consolas"/>
              </a:rPr>
              <a:t>]=E</a:t>
            </a:r>
            <a:r>
              <a:rPr lang="it-IT" sz="2400" dirty="0">
                <a:latin typeface="Consolas"/>
              </a:rPr>
              <a:t> </a:t>
            </a:r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tring index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6117" y="2285992"/>
            <a:ext cx="4500594" cy="1000132"/>
          </a:xfrm>
          <a:prstGeom prst="rect">
            <a:avLst/>
          </a:prstGeom>
          <a:noFill/>
        </p:spPr>
      </p:pic>
      <p:pic>
        <p:nvPicPr>
          <p:cNvPr id="1028" name="Picture 4" descr="string index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14678" y="5000636"/>
            <a:ext cx="4533900" cy="85725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28596" y="271462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9B115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String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600" b="1" dirty="0">
                <a:solidFill>
                  <a:srgbClr val="0A83C0"/>
                </a:solidFill>
                <a:latin typeface="+mj-lt"/>
                <a:ea typeface="+mj-ea"/>
                <a:cs typeface="+mj-cs"/>
              </a:rPr>
              <a:t>Operators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2845A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E9B115"/>
                </a:solidFill>
              </a:rPr>
              <a:t>String Operators </a:t>
            </a:r>
            <a:r>
              <a:rPr lang="en-US" sz="3600" b="1" dirty="0"/>
              <a:t>in</a:t>
            </a:r>
            <a:r>
              <a:rPr lang="en-US" sz="3600" b="1" dirty="0">
                <a:solidFill>
                  <a:srgbClr val="E9B115"/>
                </a:solidFill>
              </a:rPr>
              <a:t> </a:t>
            </a:r>
            <a:r>
              <a:rPr lang="en-US" sz="3600" b="1" dirty="0">
                <a:solidFill>
                  <a:srgbClr val="0A83C0"/>
                </a:solidFill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35785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85794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57158" y="928670"/>
          <a:ext cx="8501122" cy="5735153"/>
        </p:xfrm>
        <a:graphic>
          <a:graphicData uri="http://schemas.openxmlformats.org/drawingml/2006/table">
            <a:tbl>
              <a:tblPr/>
              <a:tblGrid>
                <a:gridCol w="985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5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2"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+</a:t>
                      </a:r>
                      <a:endParaRPr lang="en-US" sz="2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It is known as concatenation operator used to join the strings.</a:t>
                      </a:r>
                      <a:endParaRPr lang="en-US" sz="2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854"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*</a:t>
                      </a:r>
                      <a:endParaRPr lang="en-US" sz="2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It is known as repetition operator. It concatenates the multiple copies of the same string.</a:t>
                      </a:r>
                      <a:endParaRPr lang="en-US" sz="2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854"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[ ]</a:t>
                      </a:r>
                      <a:endParaRPr lang="en-US" sz="2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It is known as slice operator. It is used to access the sub-strings of a particular string.</a:t>
                      </a:r>
                      <a:endParaRPr lang="en-US" sz="2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854"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[ : ]</a:t>
                      </a:r>
                      <a:endParaRPr lang="en-US" sz="2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It is known as range slice operator. It is used to access the characters from the specified range.</a:t>
                      </a:r>
                      <a:endParaRPr lang="en-US" sz="2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8353"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in</a:t>
                      </a:r>
                      <a:endParaRPr lang="en-US" sz="2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It is known as membership operator. It returns if a particular sub-string is present in the specified string.</a:t>
                      </a:r>
                      <a:endParaRPr lang="en-US" sz="2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3146"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not in</a:t>
                      </a:r>
                      <a:endParaRPr lang="en-US" sz="2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It is also a membership operator and does the exact reverse of in. It returns true if a particular substring is not present in the specified string.</a:t>
                      </a:r>
                      <a:endParaRPr lang="en-US" sz="2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3146"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r/R</a:t>
                      </a:r>
                      <a:endParaRPr lang="en-US" sz="2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It is used to specify the raw string. To define any string as a raw string, the character r or R is followed by the string. Such as "hello \n python".</a:t>
                      </a:r>
                      <a:endParaRPr lang="en-US" sz="2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8353"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%</a:t>
                      </a:r>
                      <a:endParaRPr lang="en-US" sz="2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It is used to perform string formatting. It makes use of the format specifies used in C programming like %d or %f to map their values in python. </a:t>
                      </a:r>
                      <a:endParaRPr lang="en-US" sz="2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E9B115"/>
                </a:solidFill>
              </a:rPr>
              <a:t>       String Operators </a:t>
            </a:r>
            <a:r>
              <a:rPr lang="en-US" sz="3600" b="1" dirty="0"/>
              <a:t>in</a:t>
            </a:r>
            <a:r>
              <a:rPr lang="en-US" sz="3600" b="1" dirty="0">
                <a:solidFill>
                  <a:srgbClr val="E9B115"/>
                </a:solidFill>
              </a:rPr>
              <a:t> </a:t>
            </a:r>
            <a:r>
              <a:rPr lang="en-US" sz="3600" b="1" dirty="0">
                <a:solidFill>
                  <a:srgbClr val="0A83C0"/>
                </a:solidFill>
              </a:rPr>
              <a:t>Python 		</a:t>
            </a:r>
            <a:r>
              <a:rPr lang="en-US" sz="2000" b="1" dirty="0"/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928670"/>
            <a:ext cx="8429684" cy="5357850"/>
          </a:xfrm>
        </p:spPr>
        <p:txBody>
          <a:bodyPr>
            <a:normAutofit/>
          </a:bodyPr>
          <a:lstStyle/>
          <a:p>
            <a:endParaRPr lang="en-US" sz="2400" dirty="0"/>
          </a:p>
          <a:p>
            <a:pPr algn="just"/>
            <a:endParaRPr lang="en-US" sz="2400" dirty="0"/>
          </a:p>
          <a:p>
            <a:pPr algn="just"/>
            <a:endParaRPr lang="en-US" sz="2400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85794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85720" y="785794"/>
            <a:ext cx="8858280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A83C0"/>
                </a:solidFill>
                <a:latin typeface="Consolas"/>
              </a:rPr>
              <a:t>Example: </a:t>
            </a:r>
            <a:r>
              <a:rPr lang="en-US" b="1" dirty="0">
                <a:latin typeface="Consolas"/>
              </a:rPr>
              <a:t>“stropdemo.py”</a:t>
            </a:r>
            <a:endParaRPr lang="en-US" b="1" dirty="0">
              <a:solidFill>
                <a:srgbClr val="0A83C0"/>
              </a:solidFill>
              <a:latin typeface="Consolas"/>
            </a:endParaRP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"Hello" 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str2 = 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" World" 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(str1*</a:t>
            </a:r>
            <a:r>
              <a:rPr lang="en-US" dirty="0">
                <a:solidFill>
                  <a:srgbClr val="800080"/>
                </a:solidFill>
                <a:latin typeface="Consolas"/>
              </a:rPr>
              <a:t>3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# prints </a:t>
            </a:r>
            <a:r>
              <a:rPr lang="en-US" dirty="0" err="1">
                <a:solidFill>
                  <a:srgbClr val="008000"/>
                </a:solidFill>
                <a:latin typeface="Consolas"/>
              </a:rPr>
              <a:t>HelloHelloHello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 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(str1+str2) 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# prints Hello world 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(str1[</a:t>
            </a:r>
            <a:r>
              <a:rPr lang="en-US" dirty="0">
                <a:solidFill>
                  <a:srgbClr val="800080"/>
                </a:solidFill>
                <a:latin typeface="Consolas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]) 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# prints o 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(str1[</a:t>
            </a:r>
            <a:r>
              <a:rPr lang="en-US" dirty="0">
                <a:solidFill>
                  <a:srgbClr val="800080"/>
                </a:solidFill>
                <a:latin typeface="Consolas"/>
              </a:rPr>
              <a:t>2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:</a:t>
            </a:r>
            <a:r>
              <a:rPr lang="en-US" dirty="0">
                <a:solidFill>
                  <a:srgbClr val="800080"/>
                </a:solidFill>
                <a:latin typeface="Consolas"/>
              </a:rPr>
              <a:t>4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]) 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# prints </a:t>
            </a:r>
            <a:r>
              <a:rPr lang="en-US" dirty="0" err="1">
                <a:solidFill>
                  <a:srgbClr val="008000"/>
                </a:solidFill>
                <a:latin typeface="Consolas"/>
              </a:rPr>
              <a:t>ll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 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'w'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in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str1) 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# prints false as w is not present in str1 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'</a:t>
            </a:r>
            <a:r>
              <a:rPr lang="en-US" dirty="0" err="1">
                <a:solidFill>
                  <a:srgbClr val="FF00FF"/>
                </a:solidFill>
                <a:latin typeface="Consolas"/>
              </a:rPr>
              <a:t>Wo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'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not in 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str2) 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# prints false as </a:t>
            </a:r>
            <a:r>
              <a:rPr lang="en-US" dirty="0" err="1">
                <a:solidFill>
                  <a:srgbClr val="008000"/>
                </a:solidFill>
                <a:latin typeface="Consolas"/>
              </a:rPr>
              <a:t>Wo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 is present in str2. 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/>
              </a:rPr>
              <a:t>r</a:t>
            </a:r>
            <a:r>
              <a:rPr lang="en-US" dirty="0" err="1">
                <a:solidFill>
                  <a:srgbClr val="FF00FF"/>
                </a:solidFill>
                <a:latin typeface="Consolas"/>
              </a:rPr>
              <a:t>'Hello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\n world'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# prints Hello\n world as it is written 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"The string str1 : %s"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%(str1)) 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# prints The string </a:t>
            </a:r>
            <a:r>
              <a:rPr lang="en-US" dirty="0" err="1">
                <a:solidFill>
                  <a:srgbClr val="008000"/>
                </a:solidFill>
                <a:latin typeface="Consolas"/>
              </a:rPr>
              <a:t>str</a:t>
            </a:r>
            <a:r>
              <a:rPr lang="en-US" dirty="0">
                <a:solidFill>
                  <a:srgbClr val="008000"/>
                </a:solidFill>
                <a:latin typeface="Consolas"/>
              </a:rPr>
              <a:t> : Hello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5720" y="4000504"/>
            <a:ext cx="6143668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C000"/>
                </a:solidFill>
              </a:rPr>
              <a:t>Output:	  </a:t>
            </a:r>
            <a:r>
              <a:rPr lang="en-US" sz="2000" b="1" dirty="0"/>
              <a:t>python</a:t>
            </a:r>
            <a:r>
              <a:rPr lang="en-US" sz="2000" dirty="0"/>
              <a:t> ifdemo.py</a:t>
            </a:r>
          </a:p>
          <a:p>
            <a:r>
              <a:rPr lang="en-US" sz="2000" dirty="0" err="1"/>
              <a:t>HelloHelloHello</a:t>
            </a:r>
            <a:r>
              <a:rPr lang="en-US" sz="2000" dirty="0"/>
              <a:t> </a:t>
            </a:r>
          </a:p>
          <a:p>
            <a:r>
              <a:rPr lang="en-US" sz="2000" dirty="0"/>
              <a:t>Hello World </a:t>
            </a:r>
          </a:p>
          <a:p>
            <a:r>
              <a:rPr lang="en-US" sz="2000" dirty="0"/>
              <a:t>o </a:t>
            </a:r>
          </a:p>
          <a:p>
            <a:r>
              <a:rPr lang="en-US" sz="2000" dirty="0" err="1"/>
              <a:t>ll</a:t>
            </a:r>
            <a:r>
              <a:rPr lang="en-US" sz="2000" dirty="0"/>
              <a:t> </a:t>
            </a:r>
          </a:p>
          <a:p>
            <a:r>
              <a:rPr lang="en-US" sz="2000" dirty="0"/>
              <a:t>False </a:t>
            </a:r>
          </a:p>
          <a:p>
            <a:r>
              <a:rPr lang="en-US" sz="2000" dirty="0"/>
              <a:t>False </a:t>
            </a:r>
          </a:p>
          <a:p>
            <a:r>
              <a:rPr lang="en-US" sz="2000" dirty="0"/>
              <a:t>Hello\n world </a:t>
            </a:r>
          </a:p>
          <a:p>
            <a:r>
              <a:rPr lang="en-US" sz="2000" dirty="0"/>
              <a:t>The string str1 : Hello</a:t>
            </a:r>
            <a:endParaRPr lang="en-US" sz="14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557242" y="271462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E9B115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String</a:t>
            </a:r>
            <a:r>
              <a:rPr kumimoji="0" lang="en-US" sz="36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600" b="1" dirty="0">
                <a:solidFill>
                  <a:srgbClr val="0A83C0"/>
                </a:solidFill>
                <a:latin typeface="+mj-lt"/>
                <a:ea typeface="+mj-ea"/>
                <a:cs typeface="+mj-cs"/>
              </a:rPr>
              <a:t>Functions &amp; Methods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2845A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300" b="1" dirty="0">
                <a:solidFill>
                  <a:srgbClr val="E9B115"/>
                </a:solidFill>
              </a:rPr>
              <a:t>String Functions &amp; Methods </a:t>
            </a:r>
            <a:r>
              <a:rPr lang="en-US" sz="3300" b="1" dirty="0"/>
              <a:t>in</a:t>
            </a:r>
            <a:r>
              <a:rPr lang="en-US" sz="3300" b="1" dirty="0">
                <a:solidFill>
                  <a:srgbClr val="E9B115"/>
                </a:solidFill>
              </a:rPr>
              <a:t> </a:t>
            </a:r>
            <a:r>
              <a:rPr lang="en-US" sz="3300" b="1" dirty="0">
                <a:solidFill>
                  <a:srgbClr val="0A83C0"/>
                </a:solidFill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142984"/>
            <a:ext cx="8501122" cy="5500726"/>
          </a:xfrm>
        </p:spPr>
        <p:txBody>
          <a:bodyPr>
            <a:normAutofit/>
          </a:bodyPr>
          <a:lstStyle/>
          <a:p>
            <a:r>
              <a:rPr lang="en-US" sz="2400" dirty="0"/>
              <a:t>Python provides various in-built functions &amp; methods that are used for string handling. Those are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pPr>
              <a:buNone/>
            </a:pPr>
            <a:r>
              <a:rPr lang="en-US" sz="2400" b="1" dirty="0">
                <a:solidFill>
                  <a:srgbClr val="0A83C0"/>
                </a:solidFill>
              </a:rPr>
              <a:t>☞</a:t>
            </a:r>
            <a:r>
              <a:rPr lang="en-US" sz="2400" b="1" dirty="0"/>
              <a:t> </a:t>
            </a:r>
            <a:r>
              <a:rPr lang="en-US" sz="2400" b="1" u="sng" dirty="0">
                <a:solidFill>
                  <a:srgbClr val="0A83C0"/>
                </a:solidFill>
              </a:rPr>
              <a:t>len():</a:t>
            </a:r>
            <a:r>
              <a:rPr lang="en-US" sz="2400" dirty="0">
                <a:solidFill>
                  <a:srgbClr val="0A83C0"/>
                </a:solidFill>
              </a:rPr>
              <a:t> </a:t>
            </a:r>
          </a:p>
          <a:p>
            <a:pPr algn="just"/>
            <a:r>
              <a:rPr lang="en-US" sz="2400" dirty="0"/>
              <a:t>In python, len() function returns length of the given string. </a:t>
            </a:r>
          </a:p>
          <a:p>
            <a:pPr>
              <a:buNone/>
            </a:pPr>
            <a:r>
              <a:rPr lang="en-US" sz="2400" b="1" u="sng" dirty="0"/>
              <a:t>Syntax:</a:t>
            </a:r>
            <a:r>
              <a:rPr lang="en-US" sz="2400" dirty="0">
                <a:solidFill>
                  <a:srgbClr val="008080"/>
                </a:solidFill>
                <a:latin typeface="Consolas"/>
              </a:rPr>
              <a:t>		len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400" dirty="0">
                <a:solidFill>
                  <a:srgbClr val="FF0000"/>
                </a:solidFill>
                <a:latin typeface="Consolas"/>
              </a:rPr>
              <a:t>string</a:t>
            </a:r>
            <a:r>
              <a:rPr lang="en-US" sz="2400" dirty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2400" dirty="0">
                <a:latin typeface="Consolas"/>
              </a:rPr>
              <a:t> </a:t>
            </a:r>
          </a:p>
          <a:p>
            <a:endParaRPr lang="en-US" sz="2400" dirty="0"/>
          </a:p>
          <a:p>
            <a:pPr>
              <a:buNone/>
            </a:pPr>
            <a:endParaRPr lang="en-US" sz="24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57224" y="2000240"/>
            <a:ext cx="200026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200" dirty="0"/>
              <a:t> len()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/>
              <a:t> lower()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/>
              <a:t> upper()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/>
              <a:t> replace()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/>
              <a:t> join()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/>
              <a:t> split()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71934" y="2000240"/>
            <a:ext cx="200026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200" dirty="0"/>
              <a:t> find() 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/>
              <a:t>index()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/>
              <a:t> isalnum()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/>
              <a:t> isdigit()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/>
              <a:t> isnumeric()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/>
              <a:t> islower()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/>
              <a:t> isupper()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0034" y="5572140"/>
            <a:ext cx="3571900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A83C0"/>
                </a:solidFill>
              </a:rPr>
              <a:t>Example:</a:t>
            </a:r>
            <a:r>
              <a:rPr lang="en-US" sz="2000" b="1" dirty="0">
                <a:solidFill>
                  <a:srgbClr val="0A83C0"/>
                </a:solidFill>
              </a:rPr>
              <a:t>    </a:t>
            </a:r>
            <a:r>
              <a:rPr lang="en-US" sz="2000" b="1" dirty="0"/>
              <a:t>strlendemo.py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str1=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"Python Language"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len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(str1))</a:t>
            </a:r>
            <a:r>
              <a:rPr lang="en-US" sz="2000" dirty="0">
                <a:latin typeface="Consolas"/>
              </a:rPr>
              <a:t> 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4429124" y="5572140"/>
            <a:ext cx="3357586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u="sng" dirty="0">
                <a:solidFill>
                  <a:srgbClr val="FFC000"/>
                </a:solidFill>
              </a:rPr>
              <a:t>Output:</a:t>
            </a:r>
            <a:endParaRPr lang="en-US" sz="2000" b="1" dirty="0">
              <a:solidFill>
                <a:srgbClr val="FFC000"/>
              </a:solidFill>
            </a:endParaRPr>
          </a:p>
          <a:p>
            <a:r>
              <a:rPr lang="en-US" sz="2000" b="1" dirty="0"/>
              <a:t>python</a:t>
            </a:r>
            <a:r>
              <a:rPr lang="en-US" sz="2000" dirty="0"/>
              <a:t> strlendemo.py</a:t>
            </a:r>
          </a:p>
          <a:p>
            <a:pPr>
              <a:buNone/>
            </a:pPr>
            <a:r>
              <a:rPr lang="en-US" sz="2000" dirty="0"/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/>
              <a:t>in</a:t>
            </a:r>
            <a:r>
              <a:rPr lang="en-US" sz="3600" b="1" dirty="0">
                <a:solidFill>
                  <a:srgbClr val="E9B115"/>
                </a:solidFill>
              </a:rPr>
              <a:t> </a:t>
            </a:r>
            <a:r>
              <a:rPr lang="en-US" sz="3600" b="1" dirty="0">
                <a:solidFill>
                  <a:srgbClr val="0A83C0"/>
                </a:solidFill>
              </a:rPr>
              <a:t>Python          </a:t>
            </a:r>
            <a:r>
              <a:rPr lang="en-US" sz="2000" b="1" dirty="0"/>
              <a:t>Cont..</a:t>
            </a:r>
            <a:endParaRPr lang="en-US" sz="3600" b="1" dirty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>
                <a:solidFill>
                  <a:srgbClr val="0A83C0"/>
                </a:solidFill>
              </a:rPr>
              <a:t>☞ lower ():</a:t>
            </a:r>
          </a:p>
          <a:p>
            <a:r>
              <a:rPr lang="en-US" sz="2200" dirty="0"/>
              <a:t>In python, lower() method returns all characters of given string in lowercase.</a:t>
            </a:r>
          </a:p>
          <a:p>
            <a:pPr>
              <a:buNone/>
            </a:pPr>
            <a:r>
              <a:rPr lang="en-US" sz="2200" b="1" u="sng" dirty="0"/>
              <a:t>Syntax:</a:t>
            </a:r>
            <a:endParaRPr lang="en-US" sz="2200" dirty="0"/>
          </a:p>
          <a:p>
            <a:pPr>
              <a:buNone/>
            </a:pPr>
            <a:r>
              <a:rPr lang="en-US" sz="2000" dirty="0">
                <a:solidFill>
                  <a:srgbClr val="008080"/>
                </a:solidFill>
                <a:latin typeface="Consolas"/>
              </a:rPr>
              <a:t>	str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2000" dirty="0">
                <a:latin typeface="Consolas"/>
              </a:rPr>
              <a:t>lower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sz="2000" dirty="0">
                <a:latin typeface="Consolas"/>
              </a:rPr>
              <a:t> </a:t>
            </a: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r>
              <a:rPr lang="en-US" sz="2200" b="1" u="sng" dirty="0">
                <a:solidFill>
                  <a:srgbClr val="0A83C0"/>
                </a:solidFill>
              </a:rPr>
              <a:t>☞ upper ():</a:t>
            </a:r>
          </a:p>
          <a:p>
            <a:r>
              <a:rPr lang="en-US" sz="2000" dirty="0"/>
              <a:t>In python, upper() method returns all characters of given string in uppercase.</a:t>
            </a:r>
          </a:p>
          <a:p>
            <a:pPr>
              <a:buNone/>
            </a:pPr>
            <a:r>
              <a:rPr lang="en-US" sz="2000" b="1" u="sng" dirty="0"/>
              <a:t>Syntax:</a:t>
            </a:r>
            <a:endParaRPr lang="en-US" sz="2000" dirty="0"/>
          </a:p>
          <a:p>
            <a:pPr>
              <a:buNone/>
            </a:pPr>
            <a:r>
              <a:rPr lang="en-US" sz="1800" dirty="0">
                <a:solidFill>
                  <a:srgbClr val="008080"/>
                </a:solidFill>
                <a:latin typeface="Consolas"/>
              </a:rPr>
              <a:t>	</a:t>
            </a:r>
            <a:r>
              <a:rPr lang="en-US" sz="1800" dirty="0" err="1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1800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1800" dirty="0" err="1">
                <a:latin typeface="Consolas"/>
              </a:rPr>
              <a:t>upper</a:t>
            </a:r>
            <a:r>
              <a:rPr lang="en-US" sz="1800" dirty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sz="1800" dirty="0">
                <a:latin typeface="Consolas"/>
              </a:rPr>
              <a:t> </a:t>
            </a: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 lvl="2">
              <a:buNone/>
            </a:pPr>
            <a:endParaRPr lang="en-US" sz="2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0034" y="3000372"/>
            <a:ext cx="3571900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A83C0"/>
                </a:solidFill>
              </a:rPr>
              <a:t>Example:</a:t>
            </a:r>
            <a:r>
              <a:rPr lang="en-US" sz="2000" b="1" dirty="0">
                <a:solidFill>
                  <a:srgbClr val="0A83C0"/>
                </a:solidFill>
              </a:rPr>
              <a:t>    </a:t>
            </a:r>
            <a:r>
              <a:rPr lang="en-US" sz="2000" b="1" dirty="0"/>
              <a:t>strlowerdemo.py</a:t>
            </a:r>
            <a:endParaRPr lang="en-US" sz="2000" dirty="0"/>
          </a:p>
          <a:p>
            <a:r>
              <a:rPr lang="en-US" sz="2000" dirty="0">
                <a:solidFill>
                  <a:srgbClr val="008080"/>
                </a:solidFill>
                <a:latin typeface="Consolas"/>
              </a:rPr>
              <a:t>str1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 err="1">
                <a:solidFill>
                  <a:srgbClr val="FF00FF"/>
                </a:solidFill>
                <a:latin typeface="Consolas"/>
              </a:rPr>
              <a:t>PyTHOn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str1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lower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())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4357686" y="3000372"/>
            <a:ext cx="3357586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u="sng" dirty="0">
                <a:solidFill>
                  <a:srgbClr val="FFC000"/>
                </a:solidFill>
              </a:rPr>
              <a:t>Output:</a:t>
            </a:r>
            <a:endParaRPr lang="en-US" sz="2000" b="1" dirty="0">
              <a:solidFill>
                <a:srgbClr val="FFC000"/>
              </a:solidFill>
            </a:endParaRPr>
          </a:p>
          <a:p>
            <a:r>
              <a:rPr lang="en-US" sz="2000" b="1" dirty="0"/>
              <a:t>python</a:t>
            </a:r>
            <a:r>
              <a:rPr lang="en-US" sz="2000" dirty="0"/>
              <a:t> strlowerdemo.py</a:t>
            </a:r>
          </a:p>
          <a:p>
            <a:pPr>
              <a:buNone/>
            </a:pPr>
            <a:r>
              <a:rPr lang="en-US" sz="2000" dirty="0"/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10" y="5500702"/>
            <a:ext cx="3571900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A83C0"/>
                </a:solidFill>
              </a:rPr>
              <a:t>Example:</a:t>
            </a:r>
            <a:r>
              <a:rPr lang="en-US" sz="2000" b="1" dirty="0">
                <a:solidFill>
                  <a:srgbClr val="0A83C0"/>
                </a:solidFill>
              </a:rPr>
              <a:t>    </a:t>
            </a:r>
            <a:r>
              <a:rPr lang="en-US" sz="2000" b="1" dirty="0"/>
              <a:t>strupperdemo.py</a:t>
            </a:r>
            <a:endParaRPr lang="en-US" sz="2000" dirty="0"/>
          </a:p>
          <a:p>
            <a:r>
              <a:rPr lang="en-US" sz="2000" dirty="0" err="1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 err="1">
                <a:solidFill>
                  <a:srgbClr val="FF00FF"/>
                </a:solidFill>
                <a:latin typeface="Consolas"/>
              </a:rPr>
              <a:t>PyTHOn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err="1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2000" dirty="0" err="1">
                <a:solidFill>
                  <a:srgbClr val="008080"/>
                </a:solidFill>
                <a:latin typeface="Consolas"/>
              </a:rPr>
              <a:t>upper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())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4714876" y="5500702"/>
            <a:ext cx="3357586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u="sng" dirty="0">
                <a:solidFill>
                  <a:srgbClr val="FFC000"/>
                </a:solidFill>
              </a:rPr>
              <a:t>Output:</a:t>
            </a:r>
            <a:endParaRPr lang="en-US" sz="2000" b="1" dirty="0">
              <a:solidFill>
                <a:srgbClr val="FFC000"/>
              </a:solidFill>
            </a:endParaRPr>
          </a:p>
          <a:p>
            <a:r>
              <a:rPr lang="en-US" sz="2000" b="1" dirty="0"/>
              <a:t>python</a:t>
            </a:r>
            <a:r>
              <a:rPr lang="en-US" sz="2000" dirty="0"/>
              <a:t> strupperdemo.py</a:t>
            </a:r>
          </a:p>
          <a:p>
            <a:pPr>
              <a:buNone/>
            </a:pPr>
            <a:r>
              <a:rPr lang="en-US" sz="2000" dirty="0"/>
              <a:t>PYTHON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/>
              <a:t>in</a:t>
            </a:r>
            <a:r>
              <a:rPr lang="en-US" sz="3600" b="1" dirty="0">
                <a:solidFill>
                  <a:srgbClr val="E9B115"/>
                </a:solidFill>
              </a:rPr>
              <a:t> </a:t>
            </a:r>
            <a:r>
              <a:rPr lang="en-US" sz="3600" b="1" dirty="0">
                <a:solidFill>
                  <a:srgbClr val="0A83C0"/>
                </a:solidFill>
              </a:rPr>
              <a:t>Python          </a:t>
            </a:r>
            <a:r>
              <a:rPr lang="en-US" sz="2000" b="1" dirty="0"/>
              <a:t>Cont..</a:t>
            </a:r>
            <a:endParaRPr lang="en-US" sz="3600" b="1" dirty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>
                <a:solidFill>
                  <a:srgbClr val="0A83C0"/>
                </a:solidFill>
              </a:rPr>
              <a:t>☞ replace()</a:t>
            </a:r>
          </a:p>
          <a:p>
            <a:r>
              <a:rPr lang="en-US" sz="2400" dirty="0"/>
              <a:t>In python, replace() method replaces the old sequence of characters with the new sequence.</a:t>
            </a:r>
          </a:p>
          <a:p>
            <a:pPr>
              <a:buNone/>
            </a:pPr>
            <a:r>
              <a:rPr lang="en-US" sz="2200" b="1" u="sng" dirty="0"/>
              <a:t>Syntax: </a:t>
            </a:r>
            <a:r>
              <a:rPr lang="en-US" sz="2000" b="1" dirty="0">
                <a:solidFill>
                  <a:srgbClr val="008080"/>
                </a:solidFill>
                <a:latin typeface="Consolas"/>
              </a:rPr>
              <a:t>		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.replace(old, 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new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[, 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count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])</a:t>
            </a:r>
            <a:r>
              <a:rPr lang="en-US" sz="2000" dirty="0">
                <a:latin typeface="Consolas"/>
              </a:rPr>
              <a:t> </a:t>
            </a: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 lvl="2">
              <a:buNone/>
            </a:pPr>
            <a:endParaRPr lang="en-US" sz="2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8596" y="2643182"/>
            <a:ext cx="5429288" cy="25545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A83C0"/>
                </a:solidFill>
              </a:rPr>
              <a:t>Example:</a:t>
            </a:r>
            <a:r>
              <a:rPr lang="en-US" sz="2000" b="1" dirty="0">
                <a:solidFill>
                  <a:srgbClr val="0A83C0"/>
                </a:solidFill>
              </a:rPr>
              <a:t>    </a:t>
            </a:r>
            <a:r>
              <a:rPr lang="en-US" sz="2000" b="1" dirty="0"/>
              <a:t>strreplacedemo.py</a:t>
            </a:r>
            <a:endParaRPr lang="en-US" sz="2000" dirty="0"/>
          </a:p>
          <a:p>
            <a:r>
              <a:rPr lang="en-US" sz="2000" dirty="0" err="1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"Java is Object-Oriented Java"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str2 = 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.replace(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 err="1">
                <a:solidFill>
                  <a:srgbClr val="FF00FF"/>
                </a:solidFill>
                <a:latin typeface="Consolas"/>
              </a:rPr>
              <a:t>Java"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 err="1">
                <a:solidFill>
                  <a:srgbClr val="FF00FF"/>
                </a:solidFill>
                <a:latin typeface="Consolas"/>
              </a:rPr>
              <a:t>"Python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"Old String: \</a:t>
            </a:r>
            <a:r>
              <a:rPr lang="en-US" sz="2000" dirty="0" err="1">
                <a:solidFill>
                  <a:srgbClr val="FF00FF"/>
                </a:solidFill>
                <a:latin typeface="Consolas"/>
              </a:rPr>
              <a:t>n"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 err="1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"New String: \n"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,str2)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str3 = 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.replace(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"Java"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"Python"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>
                <a:solidFill>
                  <a:srgbClr val="800080"/>
                </a:solidFill>
                <a:latin typeface="Consolas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"\n Old String: \</a:t>
            </a:r>
            <a:r>
              <a:rPr lang="en-US" sz="2000" dirty="0" err="1">
                <a:solidFill>
                  <a:srgbClr val="FF00FF"/>
                </a:solidFill>
                <a:latin typeface="Consolas"/>
              </a:rPr>
              <a:t>n"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 err="1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"New String: \n"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,str3)</a:t>
            </a:r>
            <a:r>
              <a:rPr lang="en-US" sz="2000" dirty="0">
                <a:latin typeface="Consola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042" y="5214950"/>
            <a:ext cx="6929486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C000"/>
                </a:solidFill>
              </a:rPr>
              <a:t>Output:		</a:t>
            </a:r>
            <a:r>
              <a:rPr lang="en-US" sz="2000" b="1" dirty="0"/>
              <a:t>python</a:t>
            </a:r>
            <a:r>
              <a:rPr lang="en-US" sz="2000" dirty="0"/>
              <a:t> strreplacedemo.py</a:t>
            </a:r>
          </a:p>
          <a:p>
            <a:pPr>
              <a:buNone/>
            </a:pPr>
            <a:r>
              <a:rPr lang="en-US" sz="2000" dirty="0"/>
              <a:t>Old String: Java is Object-Oriented and Java  </a:t>
            </a:r>
          </a:p>
          <a:p>
            <a:pPr>
              <a:buNone/>
            </a:pPr>
            <a:r>
              <a:rPr lang="en-US" sz="2000" dirty="0"/>
              <a:t>New String: Python is Object-Oriented and Python </a:t>
            </a:r>
          </a:p>
          <a:p>
            <a:pPr>
              <a:buNone/>
            </a:pPr>
            <a:r>
              <a:rPr lang="en-US" sz="2000" dirty="0"/>
              <a:t>Old String: Java is Object-Oriented and Java </a:t>
            </a:r>
          </a:p>
          <a:p>
            <a:pPr>
              <a:buNone/>
            </a:pPr>
            <a:r>
              <a:rPr lang="en-US" sz="2000" dirty="0"/>
              <a:t>New String: Python is Object-Oriented and 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/>
              <a:t>in</a:t>
            </a:r>
            <a:r>
              <a:rPr lang="en-US" sz="3600" b="1" dirty="0">
                <a:solidFill>
                  <a:srgbClr val="E9B115"/>
                </a:solidFill>
              </a:rPr>
              <a:t> </a:t>
            </a:r>
            <a:r>
              <a:rPr lang="en-US" sz="3600" b="1" dirty="0">
                <a:solidFill>
                  <a:srgbClr val="0A83C0"/>
                </a:solidFill>
              </a:rPr>
              <a:t>Python          </a:t>
            </a:r>
            <a:r>
              <a:rPr lang="en-US" sz="2000" b="1" dirty="0"/>
              <a:t>Cont..</a:t>
            </a:r>
            <a:endParaRPr lang="en-US" sz="3600" b="1" dirty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>
                <a:solidFill>
                  <a:srgbClr val="0A83C0"/>
                </a:solidFill>
              </a:rPr>
              <a:t>☞ split():</a:t>
            </a:r>
          </a:p>
          <a:p>
            <a:r>
              <a:rPr lang="en-US" sz="2200" dirty="0"/>
              <a:t>In python, split() method splits the string into a comma separated list. The string splits according to the space if the delimiter is not provided.</a:t>
            </a:r>
          </a:p>
          <a:p>
            <a:pPr>
              <a:buNone/>
            </a:pPr>
            <a:r>
              <a:rPr lang="en-US" sz="2200" b="1" u="sng" dirty="0"/>
              <a:t>Syntax: </a:t>
            </a:r>
            <a:r>
              <a:rPr lang="en-US" sz="2000" b="1" dirty="0">
                <a:solidFill>
                  <a:srgbClr val="008080"/>
                </a:solidFill>
                <a:latin typeface="Consolas"/>
              </a:rPr>
              <a:t>		</a:t>
            </a:r>
            <a:r>
              <a:rPr lang="en-US" sz="2000" dirty="0" err="1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2000" dirty="0" err="1">
                <a:solidFill>
                  <a:srgbClr val="008080"/>
                </a:solidFill>
                <a:latin typeface="Consolas"/>
              </a:rPr>
              <a:t>split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([sep=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"delimiter"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])</a:t>
            </a:r>
            <a:r>
              <a:rPr lang="en-US" sz="2000" dirty="0">
                <a:latin typeface="Consolas"/>
              </a:rPr>
              <a:t>  </a:t>
            </a: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 lvl="2">
              <a:buNone/>
            </a:pPr>
            <a:endParaRPr lang="en-US" sz="2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0034" y="2643182"/>
            <a:ext cx="7215238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A83C0"/>
                </a:solidFill>
              </a:rPr>
              <a:t>Example:</a:t>
            </a:r>
            <a:r>
              <a:rPr lang="en-US" sz="2000" b="1" dirty="0">
                <a:solidFill>
                  <a:srgbClr val="0A83C0"/>
                </a:solidFill>
              </a:rPr>
              <a:t>    </a:t>
            </a:r>
            <a:r>
              <a:rPr lang="en-US" sz="2000" b="1" dirty="0"/>
              <a:t>strsplitdemo.py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"Python is a programming language"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str2 = str1.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split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</a:t>
            </a:r>
            <a:endParaRPr lang="en-US" sz="2000" dirty="0">
              <a:solidFill>
                <a:srgbClr val="008000"/>
              </a:solidFill>
              <a:latin typeface="Consolas"/>
            </a:endParaRP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(str1);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(str2)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"Python,is,a,programming,language"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str2 = str1.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split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(sep=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','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(str1);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(str2)</a:t>
            </a:r>
            <a:r>
              <a:rPr lang="en-US" sz="2000" dirty="0">
                <a:latin typeface="Consola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232" y="5000636"/>
            <a:ext cx="6929486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C000"/>
                </a:solidFill>
              </a:rPr>
              <a:t>Output:		</a:t>
            </a:r>
            <a:r>
              <a:rPr lang="en-US" sz="2000" b="1" dirty="0"/>
              <a:t>python</a:t>
            </a:r>
            <a:r>
              <a:rPr lang="en-US" sz="2000" dirty="0"/>
              <a:t> strsplitdemo.py</a:t>
            </a:r>
          </a:p>
          <a:p>
            <a:pPr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Java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is 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a programming language </a:t>
            </a:r>
          </a:p>
          <a:p>
            <a:pPr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'Java'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'is'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'a'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'programming'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'language'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] Java,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is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 a, programming, language </a:t>
            </a:r>
          </a:p>
          <a:p>
            <a:pPr>
              <a:buNone/>
            </a:pPr>
            <a:r>
              <a:rPr lang="en-US" sz="2000" dirty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'Java'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'is'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'a'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'programming'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'language'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2000" dirty="0">
                <a:latin typeface="Consolas"/>
              </a:rPr>
              <a:t>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/>
              <a:t>in</a:t>
            </a:r>
            <a:r>
              <a:rPr lang="en-US" sz="3600" b="1" dirty="0">
                <a:solidFill>
                  <a:srgbClr val="E9B115"/>
                </a:solidFill>
              </a:rPr>
              <a:t> </a:t>
            </a:r>
            <a:r>
              <a:rPr lang="en-US" sz="3600" b="1" dirty="0">
                <a:solidFill>
                  <a:srgbClr val="0A83C0"/>
                </a:solidFill>
              </a:rPr>
              <a:t>Python          </a:t>
            </a:r>
            <a:r>
              <a:rPr lang="en-US" sz="2000" b="1" dirty="0"/>
              <a:t>Cont..</a:t>
            </a:r>
            <a:endParaRPr lang="en-US" sz="3600" b="1" dirty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>
                <a:solidFill>
                  <a:srgbClr val="0A83C0"/>
                </a:solidFill>
              </a:rPr>
              <a:t>☞ find():</a:t>
            </a:r>
          </a:p>
          <a:p>
            <a:r>
              <a:rPr lang="en-US" sz="2200" dirty="0"/>
              <a:t>In python, find() method finds substring in the given string and returns index of the first match. It returns -1 if substring does not match.</a:t>
            </a:r>
          </a:p>
          <a:p>
            <a:pPr>
              <a:buNone/>
            </a:pPr>
            <a:r>
              <a:rPr lang="en-US" sz="2200" b="1" u="sng" dirty="0"/>
              <a:t>Syntax: </a:t>
            </a:r>
            <a:r>
              <a:rPr lang="en-US" sz="2000" b="1" dirty="0">
                <a:solidFill>
                  <a:srgbClr val="008080"/>
                </a:solidFill>
                <a:latin typeface="Consolas"/>
              </a:rPr>
              <a:t>		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find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sub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[, 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start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[,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end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]])</a:t>
            </a:r>
            <a:r>
              <a:rPr lang="en-US" sz="2000" dirty="0">
                <a:latin typeface="Consolas"/>
              </a:rPr>
              <a:t>  </a:t>
            </a: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 lvl="2">
              <a:buNone/>
            </a:pPr>
            <a:endParaRPr lang="en-US" sz="2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0034" y="2643182"/>
            <a:ext cx="7215238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A83C0"/>
                </a:solidFill>
              </a:rPr>
              <a:t>Example:</a:t>
            </a:r>
            <a:r>
              <a:rPr lang="en-US" sz="2000" b="1" dirty="0">
                <a:solidFill>
                  <a:srgbClr val="0A83C0"/>
                </a:solidFill>
              </a:rPr>
              <a:t>    </a:t>
            </a:r>
            <a:r>
              <a:rPr lang="en-US" sz="2000" b="1" dirty="0"/>
              <a:t>strfinddemo.py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"python is a programming language"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str2 = str1.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find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"is"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str3 = str1.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find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"java"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str4 = str1.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find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"p"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>
                <a:solidFill>
                  <a:srgbClr val="800080"/>
                </a:solidFill>
                <a:latin typeface="Consolas"/>
              </a:rPr>
              <a:t>5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str5 = str1.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find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"i"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>
                <a:solidFill>
                  <a:srgbClr val="800080"/>
                </a:solidFill>
                <a:latin typeface="Consolas"/>
              </a:rPr>
              <a:t>5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>
                <a:solidFill>
                  <a:srgbClr val="800080"/>
                </a:solidFill>
                <a:latin typeface="Consolas"/>
              </a:rPr>
              <a:t>25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(str2,str3,str4,str5)</a:t>
            </a:r>
            <a:r>
              <a:rPr lang="en-US" sz="2000" dirty="0">
                <a:latin typeface="Consola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232" y="5143512"/>
            <a:ext cx="6929486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C000"/>
                </a:solidFill>
              </a:rPr>
              <a:t>Output:		</a:t>
            </a:r>
          </a:p>
          <a:p>
            <a:pPr>
              <a:buNone/>
            </a:pPr>
            <a:r>
              <a:rPr lang="en-US" sz="2000" b="1" dirty="0"/>
              <a:t>python</a:t>
            </a:r>
            <a:r>
              <a:rPr lang="en-US" sz="2000" dirty="0"/>
              <a:t> strfinddemo.py</a:t>
            </a:r>
          </a:p>
          <a:p>
            <a:pPr>
              <a:buNone/>
            </a:pPr>
            <a:r>
              <a:rPr lang="en-US" sz="2000" dirty="0"/>
              <a:t>7  -1  12  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/>
              <a:t>in</a:t>
            </a:r>
            <a:r>
              <a:rPr lang="en-US" sz="3600" b="1" dirty="0">
                <a:solidFill>
                  <a:srgbClr val="E9B115"/>
                </a:solidFill>
              </a:rPr>
              <a:t> </a:t>
            </a:r>
            <a:r>
              <a:rPr lang="en-US" sz="3600" b="1" dirty="0">
                <a:solidFill>
                  <a:srgbClr val="0A83C0"/>
                </a:solidFill>
              </a:rPr>
              <a:t>Python          </a:t>
            </a:r>
            <a:r>
              <a:rPr lang="en-US" sz="2000" b="1" dirty="0"/>
              <a:t>Cont..</a:t>
            </a:r>
            <a:endParaRPr lang="en-US" sz="3600" b="1" dirty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>
                <a:solidFill>
                  <a:srgbClr val="0A83C0"/>
                </a:solidFill>
              </a:rPr>
              <a:t>☞ index():</a:t>
            </a:r>
          </a:p>
          <a:p>
            <a:r>
              <a:rPr lang="en-US" sz="2200" dirty="0"/>
              <a:t>In python, index() method is same as the find() method except it returns error on failure. This method returns index of first occurred substring and an error if there is no match found.</a:t>
            </a:r>
          </a:p>
          <a:p>
            <a:pPr>
              <a:buNone/>
            </a:pPr>
            <a:r>
              <a:rPr lang="en-US" sz="2200" b="1" u="sng" dirty="0"/>
              <a:t>Syntax: </a:t>
            </a:r>
            <a:r>
              <a:rPr lang="en-US" sz="2000" b="1" dirty="0">
                <a:solidFill>
                  <a:srgbClr val="008080"/>
                </a:solidFill>
                <a:latin typeface="Consolas"/>
              </a:rPr>
              <a:t>		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 index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sub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[, 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start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[,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end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]])</a:t>
            </a:r>
            <a:r>
              <a:rPr lang="en-US" sz="2000" dirty="0">
                <a:latin typeface="Consolas"/>
              </a:rPr>
              <a:t>  </a:t>
            </a: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 lvl="2">
              <a:buNone/>
            </a:pPr>
            <a:endParaRPr lang="en-US" sz="2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8596" y="2928934"/>
            <a:ext cx="5929354" cy="31700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A83C0"/>
                </a:solidFill>
              </a:rPr>
              <a:t>Example:</a:t>
            </a:r>
            <a:r>
              <a:rPr lang="en-US" sz="2000" b="1" dirty="0">
                <a:solidFill>
                  <a:srgbClr val="0A83C0"/>
                </a:solidFill>
              </a:rPr>
              <a:t>    </a:t>
            </a:r>
            <a:r>
              <a:rPr lang="en-US" sz="2000" b="1" dirty="0"/>
              <a:t>strindexdemo.py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"python is a programming language"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str2 = str1.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index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"is"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(str2)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str3 = str1.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index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"p"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>
                <a:solidFill>
                  <a:srgbClr val="800080"/>
                </a:solidFill>
                <a:latin typeface="Consolas"/>
              </a:rPr>
              <a:t>5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(str3)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str4 = str1.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index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"i"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>
                <a:solidFill>
                  <a:srgbClr val="800080"/>
                </a:solidFill>
                <a:latin typeface="Consolas"/>
              </a:rPr>
              <a:t>5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>
                <a:solidFill>
                  <a:srgbClr val="800080"/>
                </a:solidFill>
                <a:latin typeface="Consolas"/>
              </a:rPr>
              <a:t>25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(str4)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str5 = str1.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index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"java"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(str5)</a:t>
            </a:r>
            <a:r>
              <a:rPr lang="en-US" sz="2000" dirty="0">
                <a:latin typeface="Consola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3438" y="4643446"/>
            <a:ext cx="4214842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C000"/>
                </a:solidFill>
              </a:rPr>
              <a:t>Output:		</a:t>
            </a:r>
          </a:p>
          <a:p>
            <a:pPr>
              <a:buNone/>
            </a:pPr>
            <a:r>
              <a:rPr lang="en-US" sz="2000" b="1" dirty="0"/>
              <a:t>python</a:t>
            </a:r>
            <a:r>
              <a:rPr lang="en-US" sz="2000" dirty="0"/>
              <a:t> strindexdemo.py</a:t>
            </a:r>
          </a:p>
          <a:p>
            <a:pPr>
              <a:buNone/>
            </a:pPr>
            <a:r>
              <a:rPr lang="en-US" sz="2000" dirty="0"/>
              <a:t>7 </a:t>
            </a:r>
          </a:p>
          <a:p>
            <a:pPr>
              <a:buNone/>
            </a:pPr>
            <a:r>
              <a:rPr lang="en-US" sz="2000" dirty="0"/>
              <a:t>12 </a:t>
            </a:r>
          </a:p>
          <a:p>
            <a:pPr>
              <a:buNone/>
            </a:pPr>
            <a:r>
              <a:rPr lang="en-US" sz="2000" dirty="0"/>
              <a:t>7 </a:t>
            </a:r>
          </a:p>
          <a:p>
            <a:pPr>
              <a:buNone/>
            </a:pPr>
            <a:r>
              <a:rPr lang="en-US" sz="2000" dirty="0"/>
              <a:t>Substring not found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/>
              <a:t>in</a:t>
            </a:r>
            <a:r>
              <a:rPr lang="en-US" sz="3600" b="1" dirty="0">
                <a:solidFill>
                  <a:srgbClr val="E9B115"/>
                </a:solidFill>
              </a:rPr>
              <a:t> </a:t>
            </a:r>
            <a:r>
              <a:rPr lang="en-US" sz="3600" b="1" dirty="0">
                <a:solidFill>
                  <a:srgbClr val="0A83C0"/>
                </a:solidFill>
              </a:rPr>
              <a:t>Python          </a:t>
            </a:r>
            <a:r>
              <a:rPr lang="en-US" sz="2000" b="1" dirty="0"/>
              <a:t>Cont..</a:t>
            </a:r>
            <a:endParaRPr lang="en-US" sz="3600" b="1" dirty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>
                <a:solidFill>
                  <a:srgbClr val="0A83C0"/>
                </a:solidFill>
              </a:rPr>
              <a:t>☞ isalnum():</a:t>
            </a:r>
          </a:p>
          <a:p>
            <a:r>
              <a:rPr lang="en-US" sz="2200" dirty="0"/>
              <a:t>In python, isalnum() method checks whether the all characters of the string is alphanumeric or not. </a:t>
            </a:r>
          </a:p>
          <a:p>
            <a:r>
              <a:rPr lang="en-US" sz="2200" dirty="0"/>
              <a:t>A character which is either a letter or a number is known as alphanumeric. It does not allow special chars even spaces.</a:t>
            </a:r>
          </a:p>
          <a:p>
            <a:pPr>
              <a:buNone/>
            </a:pPr>
            <a:r>
              <a:rPr lang="en-US" sz="2200" b="1" u="sng" dirty="0"/>
              <a:t>Syntax: </a:t>
            </a:r>
            <a:r>
              <a:rPr lang="en-US" sz="2000" b="1" dirty="0">
                <a:solidFill>
                  <a:srgbClr val="008080"/>
                </a:solidFill>
                <a:latin typeface="Consolas"/>
              </a:rPr>
              <a:t>		</a:t>
            </a:r>
            <a:r>
              <a:rPr lang="en-US" sz="2000" dirty="0" err="1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.isalnum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sz="2000" dirty="0">
                <a:latin typeface="Consolas"/>
              </a:rPr>
              <a:t>  </a:t>
            </a: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 lvl="2">
              <a:buNone/>
            </a:pPr>
            <a:endParaRPr lang="en-US" sz="2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8596" y="3286124"/>
            <a:ext cx="4071966" cy="34778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A83C0"/>
                </a:solidFill>
              </a:rPr>
              <a:t>Example:</a:t>
            </a:r>
            <a:r>
              <a:rPr lang="en-US" sz="2000" b="1" dirty="0">
                <a:solidFill>
                  <a:srgbClr val="0A83C0"/>
                </a:solidFill>
              </a:rPr>
              <a:t>    </a:t>
            </a:r>
            <a:r>
              <a:rPr lang="en-US" sz="2000" b="1" dirty="0"/>
              <a:t>straldemo.py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"python"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str2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"python123"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str3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"12345"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str4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"python@123"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str5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"python 123"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(str1. isalnum())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(str2. isalnum())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(str3. isalnum())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(str4. isalnum())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(str5. isalnum())</a:t>
            </a:r>
            <a:r>
              <a:rPr lang="en-US" sz="2000" dirty="0">
                <a:latin typeface="Consola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6314" y="3857628"/>
            <a:ext cx="4214842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C000"/>
                </a:solidFill>
              </a:rPr>
              <a:t>Output:		</a:t>
            </a:r>
          </a:p>
          <a:p>
            <a:pPr>
              <a:buNone/>
            </a:pPr>
            <a:r>
              <a:rPr lang="en-US" sz="2000" b="1" dirty="0"/>
              <a:t>python</a:t>
            </a:r>
            <a:r>
              <a:rPr lang="en-US" sz="2000" dirty="0"/>
              <a:t> straldemo.py</a:t>
            </a:r>
          </a:p>
          <a:p>
            <a:pPr>
              <a:buNone/>
            </a:pPr>
            <a:r>
              <a:rPr lang="da-DK" sz="2000" dirty="0"/>
              <a:t>True </a:t>
            </a:r>
          </a:p>
          <a:p>
            <a:pPr>
              <a:buNone/>
            </a:pPr>
            <a:r>
              <a:rPr lang="da-DK" sz="2000" dirty="0"/>
              <a:t>True </a:t>
            </a:r>
          </a:p>
          <a:p>
            <a:pPr>
              <a:buNone/>
            </a:pPr>
            <a:r>
              <a:rPr lang="da-DK" sz="2000" dirty="0"/>
              <a:t>True </a:t>
            </a:r>
          </a:p>
          <a:p>
            <a:pPr>
              <a:buNone/>
            </a:pPr>
            <a:r>
              <a:rPr lang="da-DK" sz="2000" dirty="0"/>
              <a:t>False </a:t>
            </a:r>
          </a:p>
          <a:p>
            <a:pPr>
              <a:buNone/>
            </a:pPr>
            <a:r>
              <a:rPr lang="da-DK" sz="2000" dirty="0"/>
              <a:t>False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/>
              <a:t>in</a:t>
            </a:r>
            <a:r>
              <a:rPr lang="en-US" sz="3600" b="1" dirty="0">
                <a:solidFill>
                  <a:srgbClr val="E9B115"/>
                </a:solidFill>
              </a:rPr>
              <a:t> </a:t>
            </a:r>
            <a:r>
              <a:rPr lang="en-US" sz="3600" b="1" dirty="0">
                <a:solidFill>
                  <a:srgbClr val="0A83C0"/>
                </a:solidFill>
              </a:rPr>
              <a:t>Python          </a:t>
            </a:r>
            <a:r>
              <a:rPr lang="en-US" sz="2000" b="1" dirty="0"/>
              <a:t>Cont..</a:t>
            </a:r>
            <a:endParaRPr lang="en-US" sz="3600" b="1" dirty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>
                <a:solidFill>
                  <a:srgbClr val="0A83C0"/>
                </a:solidFill>
              </a:rPr>
              <a:t>☞ isdigit():</a:t>
            </a:r>
          </a:p>
          <a:p>
            <a:r>
              <a:rPr lang="en-US" sz="2200" dirty="0"/>
              <a:t>In python, isdigit() method returns True if all the characters in the string are digits. It returns False if no character is digit in the string. </a:t>
            </a:r>
          </a:p>
          <a:p>
            <a:pPr>
              <a:buNone/>
            </a:pPr>
            <a:r>
              <a:rPr lang="en-US" sz="2200" b="1" u="sng" dirty="0"/>
              <a:t>Syntax: </a:t>
            </a:r>
            <a:r>
              <a:rPr lang="en-US" sz="2000" b="1" dirty="0">
                <a:solidFill>
                  <a:srgbClr val="008080"/>
                </a:solidFill>
                <a:latin typeface="Consolas"/>
              </a:rPr>
              <a:t>		</a:t>
            </a:r>
            <a:r>
              <a:rPr lang="en-US" sz="2000" dirty="0" err="1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.isdigit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sz="2000" dirty="0">
                <a:latin typeface="Consolas"/>
              </a:rPr>
              <a:t>  </a:t>
            </a: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 lvl="2">
              <a:buNone/>
            </a:pPr>
            <a:endParaRPr lang="en-US" sz="2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8596" y="2643182"/>
            <a:ext cx="4071966" cy="4093428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A83C0"/>
                </a:solidFill>
              </a:rPr>
              <a:t>Example:</a:t>
            </a:r>
            <a:r>
              <a:rPr lang="en-US" sz="2000" b="1" dirty="0">
                <a:solidFill>
                  <a:srgbClr val="0A83C0"/>
                </a:solidFill>
              </a:rPr>
              <a:t>    </a:t>
            </a:r>
            <a:r>
              <a:rPr lang="en-US" sz="2000" b="1" dirty="0"/>
              <a:t>strdigitdemo.py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"12345"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str2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"python123"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str3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"123-45-78"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str4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"IIIV"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str5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"/u00B23" </a:t>
            </a:r>
            <a:r>
              <a:rPr lang="en-US" sz="2000" dirty="0">
                <a:solidFill>
                  <a:srgbClr val="008000"/>
                </a:solidFill>
                <a:latin typeface="Consolas"/>
              </a:rPr>
              <a:t># 23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str6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"/u00BD" </a:t>
            </a:r>
            <a:r>
              <a:rPr lang="en-US" sz="2000" dirty="0">
                <a:solidFill>
                  <a:srgbClr val="008000"/>
                </a:solidFill>
                <a:latin typeface="Consolas"/>
              </a:rPr>
              <a:t># 1/2</a:t>
            </a:r>
            <a:r>
              <a:rPr lang="en-US" sz="2000" dirty="0"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(str1.isdigit())</a:t>
            </a:r>
            <a:r>
              <a:rPr lang="en-US" sz="2000" dirty="0"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(str2.isdigit())</a:t>
            </a:r>
            <a:r>
              <a:rPr lang="en-US" sz="2000" dirty="0"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(str3.isdigit())</a:t>
            </a:r>
            <a:r>
              <a:rPr lang="en-US" sz="2000" dirty="0"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(str4.isdigit())</a:t>
            </a:r>
            <a:r>
              <a:rPr lang="en-US" sz="2000" dirty="0"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(str5.isdigit())</a:t>
            </a:r>
            <a:r>
              <a:rPr lang="en-US" sz="2000" dirty="0"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(str6.isdigit())</a:t>
            </a:r>
            <a:r>
              <a:rPr lang="en-US" sz="2000" dirty="0">
                <a:latin typeface="Consolas"/>
              </a:rPr>
              <a:t>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6314" y="3857628"/>
            <a:ext cx="4214842" cy="25545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C000"/>
                </a:solidFill>
              </a:rPr>
              <a:t>Output:		</a:t>
            </a:r>
          </a:p>
          <a:p>
            <a:pPr>
              <a:buNone/>
            </a:pPr>
            <a:r>
              <a:rPr lang="en-US" sz="2000" b="1" dirty="0"/>
              <a:t>python</a:t>
            </a:r>
            <a:r>
              <a:rPr lang="en-US" sz="2000" dirty="0"/>
              <a:t> strdigitldemo.py</a:t>
            </a:r>
          </a:p>
          <a:p>
            <a:pPr>
              <a:buNone/>
            </a:pPr>
            <a:r>
              <a:rPr lang="da-DK" sz="2000" dirty="0"/>
              <a:t>True </a:t>
            </a:r>
          </a:p>
          <a:p>
            <a:pPr>
              <a:buNone/>
            </a:pPr>
            <a:r>
              <a:rPr lang="da-DK" sz="2000" dirty="0"/>
              <a:t>False </a:t>
            </a:r>
          </a:p>
          <a:p>
            <a:pPr>
              <a:buNone/>
            </a:pPr>
            <a:r>
              <a:rPr lang="da-DK" sz="2000" dirty="0"/>
              <a:t>False </a:t>
            </a:r>
          </a:p>
          <a:p>
            <a:pPr>
              <a:buNone/>
            </a:pPr>
            <a:r>
              <a:rPr lang="da-DK" sz="2000" dirty="0"/>
              <a:t>False </a:t>
            </a:r>
          </a:p>
          <a:p>
            <a:pPr>
              <a:buNone/>
            </a:pPr>
            <a:r>
              <a:rPr lang="da-DK" sz="2000" dirty="0"/>
              <a:t>True </a:t>
            </a:r>
          </a:p>
          <a:p>
            <a:pPr>
              <a:buNone/>
            </a:pPr>
            <a:r>
              <a:rPr lang="da-DK" sz="2000" dirty="0"/>
              <a:t>False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/>
              <a:t>in</a:t>
            </a:r>
            <a:r>
              <a:rPr lang="en-US" sz="3600" b="1" dirty="0">
                <a:solidFill>
                  <a:srgbClr val="E9B115"/>
                </a:solidFill>
              </a:rPr>
              <a:t> </a:t>
            </a:r>
            <a:r>
              <a:rPr lang="en-US" sz="3600" b="1" dirty="0">
                <a:solidFill>
                  <a:srgbClr val="0A83C0"/>
                </a:solidFill>
              </a:rPr>
              <a:t>Python          </a:t>
            </a:r>
            <a:r>
              <a:rPr lang="en-US" sz="2000" b="1" dirty="0"/>
              <a:t>Cont..</a:t>
            </a:r>
            <a:endParaRPr lang="en-US" sz="3600" b="1" dirty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>
                <a:solidFill>
                  <a:srgbClr val="0A83C0"/>
                </a:solidFill>
              </a:rPr>
              <a:t>☞ isnumeric():</a:t>
            </a:r>
          </a:p>
          <a:p>
            <a:r>
              <a:rPr lang="en-US" sz="2200" dirty="0"/>
              <a:t>In python, isnumeric() method checks whether all the characters of the string are numeric characters or not. It returns True if all the characters are numeric, otherwise returns False.</a:t>
            </a:r>
          </a:p>
          <a:p>
            <a:pPr>
              <a:buNone/>
            </a:pPr>
            <a:r>
              <a:rPr lang="en-US" sz="2200" b="1" u="sng" dirty="0"/>
              <a:t>Syntax: </a:t>
            </a:r>
            <a:r>
              <a:rPr lang="en-US" sz="2000" b="1" dirty="0">
                <a:solidFill>
                  <a:srgbClr val="008080"/>
                </a:solidFill>
                <a:latin typeface="Consolas"/>
              </a:rPr>
              <a:t>		</a:t>
            </a:r>
            <a:r>
              <a:rPr lang="en-US" sz="2000" dirty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. isnumeric()</a:t>
            </a:r>
            <a:r>
              <a:rPr lang="en-US" sz="2000" dirty="0">
                <a:latin typeface="Consolas"/>
              </a:rPr>
              <a:t>  </a:t>
            </a: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 lvl="2">
              <a:buNone/>
            </a:pPr>
            <a:endParaRPr lang="en-US" sz="2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8596" y="2928934"/>
            <a:ext cx="4071966" cy="261610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A83C0"/>
                </a:solidFill>
              </a:rPr>
              <a:t>Example:</a:t>
            </a:r>
            <a:r>
              <a:rPr lang="en-US" sz="2000" b="1" dirty="0">
                <a:solidFill>
                  <a:srgbClr val="0A83C0"/>
                </a:solidFill>
              </a:rPr>
              <a:t>    </a:t>
            </a:r>
            <a:r>
              <a:rPr lang="en-US" sz="2000" b="1" dirty="0"/>
              <a:t>strnumericdemo.py</a:t>
            </a:r>
            <a:endParaRPr lang="en-US" sz="2000" dirty="0"/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"12345"</a:t>
            </a:r>
            <a:r>
              <a:rPr lang="en-US" dirty="0">
                <a:latin typeface="Consolas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str2 = 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"python123"</a:t>
            </a:r>
            <a:r>
              <a:rPr lang="en-US" dirty="0">
                <a:latin typeface="Consolas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str3 = 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"123-45-78"</a:t>
            </a:r>
            <a:r>
              <a:rPr lang="en-US" dirty="0">
                <a:latin typeface="Consolas"/>
              </a:rPr>
              <a:t> </a:t>
            </a:r>
          </a:p>
          <a:p>
            <a:r>
              <a:rPr lang="en-US" dirty="0">
                <a:solidFill>
                  <a:srgbClr val="000000"/>
                </a:solidFill>
                <a:latin typeface="Consolas"/>
              </a:rPr>
              <a:t>str4 = </a:t>
            </a:r>
            <a:r>
              <a:rPr lang="en-US" dirty="0">
                <a:solidFill>
                  <a:srgbClr val="FF00FF"/>
                </a:solidFill>
                <a:latin typeface="Consolas"/>
              </a:rPr>
              <a:t>"IIIV"</a:t>
            </a:r>
            <a:r>
              <a:rPr lang="en-US" dirty="0">
                <a:latin typeface="Consolas"/>
              </a:rPr>
              <a:t> </a:t>
            </a:r>
          </a:p>
          <a:p>
            <a:r>
              <a:rPr lang="en-US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(str1.</a:t>
            </a:r>
            <a:r>
              <a:rPr lang="en-US" dirty="0">
                <a:solidFill>
                  <a:srgbClr val="008080"/>
                </a:solidFill>
                <a:latin typeface="Consolas"/>
              </a:rPr>
              <a:t>isnumeric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())</a:t>
            </a:r>
            <a:r>
              <a:rPr lang="en-US" dirty="0"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(str2.</a:t>
            </a:r>
            <a:r>
              <a:rPr lang="en-US" dirty="0">
                <a:solidFill>
                  <a:srgbClr val="008080"/>
                </a:solidFill>
                <a:latin typeface="Consolas"/>
              </a:rPr>
              <a:t>isnumeric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())</a:t>
            </a:r>
            <a:r>
              <a:rPr lang="en-US" dirty="0"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(str3.</a:t>
            </a:r>
            <a:r>
              <a:rPr lang="en-US" dirty="0">
                <a:solidFill>
                  <a:srgbClr val="008080"/>
                </a:solidFill>
                <a:latin typeface="Consolas"/>
              </a:rPr>
              <a:t>isnumeric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())</a:t>
            </a:r>
            <a:r>
              <a:rPr lang="en-US" dirty="0">
                <a:latin typeface="Consolas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(str4.</a:t>
            </a:r>
            <a:r>
              <a:rPr lang="en-US" dirty="0">
                <a:solidFill>
                  <a:srgbClr val="008080"/>
                </a:solidFill>
                <a:latin typeface="Consolas"/>
              </a:rPr>
              <a:t>isnumeric</a:t>
            </a:r>
            <a:r>
              <a:rPr lang="en-US" dirty="0">
                <a:solidFill>
                  <a:srgbClr val="000000"/>
                </a:solidFill>
                <a:latin typeface="Consolas"/>
              </a:rPr>
              <a:t>())</a:t>
            </a:r>
            <a:endParaRPr lang="en-US" dirty="0">
              <a:latin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86314" y="3786190"/>
            <a:ext cx="4214842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C000"/>
                </a:solidFill>
              </a:rPr>
              <a:t>Output:		</a:t>
            </a:r>
          </a:p>
          <a:p>
            <a:pPr>
              <a:buNone/>
            </a:pPr>
            <a:r>
              <a:rPr lang="en-US" sz="2000" b="1" dirty="0"/>
              <a:t>python</a:t>
            </a:r>
            <a:r>
              <a:rPr lang="en-US" sz="2000" dirty="0"/>
              <a:t> strnumericldemo.py</a:t>
            </a:r>
          </a:p>
          <a:p>
            <a:pPr>
              <a:buNone/>
            </a:pPr>
            <a:r>
              <a:rPr lang="da-DK" sz="2000" dirty="0"/>
              <a:t>True </a:t>
            </a:r>
          </a:p>
          <a:p>
            <a:pPr>
              <a:buNone/>
            </a:pPr>
            <a:r>
              <a:rPr lang="da-DK" sz="2000" dirty="0"/>
              <a:t>False </a:t>
            </a:r>
          </a:p>
          <a:p>
            <a:pPr>
              <a:buNone/>
            </a:pPr>
            <a:r>
              <a:rPr lang="da-DK" sz="2000" dirty="0"/>
              <a:t>False </a:t>
            </a:r>
          </a:p>
          <a:p>
            <a:pPr>
              <a:buNone/>
            </a:pPr>
            <a:r>
              <a:rPr lang="da-DK" sz="2000" dirty="0"/>
              <a:t>False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/>
              <a:t>in</a:t>
            </a:r>
            <a:r>
              <a:rPr lang="en-US" sz="3600" b="1" dirty="0">
                <a:solidFill>
                  <a:srgbClr val="E9B115"/>
                </a:solidFill>
              </a:rPr>
              <a:t> </a:t>
            </a:r>
            <a:r>
              <a:rPr lang="en-US" sz="3600" b="1" dirty="0">
                <a:solidFill>
                  <a:srgbClr val="0A83C0"/>
                </a:solidFill>
              </a:rPr>
              <a:t>Python          </a:t>
            </a:r>
            <a:r>
              <a:rPr lang="en-US" sz="2000" b="1" dirty="0"/>
              <a:t>Cont..</a:t>
            </a:r>
            <a:endParaRPr lang="en-US" sz="3600" b="1" dirty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>
                <a:solidFill>
                  <a:srgbClr val="0A83C0"/>
                </a:solidFill>
              </a:rPr>
              <a:t>☞ islower():</a:t>
            </a:r>
          </a:p>
          <a:p>
            <a:r>
              <a:rPr lang="en-US" sz="2200" dirty="0"/>
              <a:t>In python, islower() method returns True if all characters in the string are in lowercase. It returns False if not in lowercase.</a:t>
            </a:r>
          </a:p>
          <a:p>
            <a:pPr>
              <a:buNone/>
            </a:pPr>
            <a:r>
              <a:rPr lang="en-US" sz="2200" b="1" u="sng" dirty="0"/>
              <a:t>Syntax: </a:t>
            </a:r>
            <a:r>
              <a:rPr lang="en-US" sz="2000" b="1" dirty="0">
                <a:solidFill>
                  <a:srgbClr val="008080"/>
                </a:solidFill>
                <a:latin typeface="Consolas"/>
              </a:rPr>
              <a:t>		</a:t>
            </a:r>
            <a:r>
              <a:rPr lang="en-US" sz="2000" dirty="0" err="1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.islower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sz="2000" dirty="0">
                <a:latin typeface="Consolas"/>
              </a:rPr>
              <a:t>  </a:t>
            </a: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 lvl="2">
              <a:buNone/>
            </a:pPr>
            <a:endParaRPr lang="en-US" sz="2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8596" y="2643182"/>
            <a:ext cx="4071966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A83C0"/>
                </a:solidFill>
              </a:rPr>
              <a:t>Example:</a:t>
            </a:r>
            <a:r>
              <a:rPr lang="en-US" sz="2000" b="1" dirty="0">
                <a:solidFill>
                  <a:srgbClr val="0A83C0"/>
                </a:solidFill>
              </a:rPr>
              <a:t>    </a:t>
            </a:r>
            <a:r>
              <a:rPr lang="en-US" sz="2000" b="1" dirty="0"/>
              <a:t>strlowerdemo.py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"python" 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str2=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 err="1">
                <a:solidFill>
                  <a:srgbClr val="FF00FF"/>
                </a:solidFill>
                <a:latin typeface="Consolas"/>
              </a:rPr>
              <a:t>PytHOn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>
                <a:latin typeface="Consolas"/>
              </a:rPr>
              <a:t> 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str3=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"python3.7.3"</a:t>
            </a:r>
            <a:r>
              <a:rPr lang="en-US" sz="2000" dirty="0"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(str1.islower())</a:t>
            </a:r>
            <a:r>
              <a:rPr lang="en-US" sz="2000" dirty="0"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(str2.islower())</a:t>
            </a:r>
            <a:r>
              <a:rPr lang="en-US" sz="2000" dirty="0"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(str3.islower())</a:t>
            </a:r>
            <a:r>
              <a:rPr lang="en-US" sz="2000" dirty="0">
                <a:latin typeface="Consola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6314" y="4298114"/>
            <a:ext cx="4214842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C000"/>
                </a:solidFill>
              </a:rPr>
              <a:t>Output:		</a:t>
            </a:r>
          </a:p>
          <a:p>
            <a:pPr>
              <a:buNone/>
            </a:pPr>
            <a:r>
              <a:rPr lang="en-US" sz="2000" b="1" dirty="0"/>
              <a:t>python</a:t>
            </a:r>
            <a:r>
              <a:rPr lang="en-US" sz="2000" dirty="0"/>
              <a:t> strlowerldemo.py</a:t>
            </a:r>
          </a:p>
          <a:p>
            <a:pPr>
              <a:buNone/>
            </a:pPr>
            <a:r>
              <a:rPr lang="en-US" sz="2000" dirty="0"/>
              <a:t>True </a:t>
            </a:r>
          </a:p>
          <a:p>
            <a:pPr>
              <a:buNone/>
            </a:pPr>
            <a:r>
              <a:rPr lang="en-US" sz="2000" dirty="0"/>
              <a:t>False </a:t>
            </a:r>
          </a:p>
          <a:p>
            <a:pPr>
              <a:buNone/>
            </a:pPr>
            <a:r>
              <a:rPr lang="en-US" sz="2000" dirty="0"/>
              <a:t>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/>
              <a:t>in</a:t>
            </a:r>
            <a:r>
              <a:rPr lang="en-US" sz="3600" b="1" dirty="0">
                <a:solidFill>
                  <a:srgbClr val="E9B115"/>
                </a:solidFill>
              </a:rPr>
              <a:t> </a:t>
            </a:r>
            <a:r>
              <a:rPr lang="en-US" sz="3600" b="1" dirty="0">
                <a:solidFill>
                  <a:srgbClr val="0A83C0"/>
                </a:solidFill>
              </a:rPr>
              <a:t>Python          </a:t>
            </a:r>
            <a:r>
              <a:rPr lang="en-US" sz="2000" b="1" dirty="0"/>
              <a:t>Cont..</a:t>
            </a:r>
            <a:endParaRPr lang="en-US" sz="3600" b="1" dirty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>
                <a:solidFill>
                  <a:srgbClr val="0A83C0"/>
                </a:solidFill>
              </a:rPr>
              <a:t>☞ isupper():</a:t>
            </a:r>
          </a:p>
          <a:p>
            <a:r>
              <a:rPr lang="en-US" sz="2200" dirty="0"/>
              <a:t>In python string isupper() method returns True if all characters in the string are in uppercase. It returns False if not in uppercase.</a:t>
            </a:r>
          </a:p>
          <a:p>
            <a:pPr>
              <a:buNone/>
            </a:pPr>
            <a:r>
              <a:rPr lang="en-US" sz="2200" b="1" u="sng" dirty="0"/>
              <a:t>Syntax: </a:t>
            </a:r>
            <a:r>
              <a:rPr lang="en-US" sz="2000" b="1" dirty="0">
                <a:solidFill>
                  <a:srgbClr val="008080"/>
                </a:solidFill>
                <a:latin typeface="Consolas"/>
              </a:rPr>
              <a:t>		</a:t>
            </a:r>
            <a:r>
              <a:rPr lang="en-US" sz="2000" dirty="0" err="1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err="1">
                <a:solidFill>
                  <a:srgbClr val="000000"/>
                </a:solidFill>
                <a:latin typeface="Consolas"/>
              </a:rPr>
              <a:t>.isupper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sz="2000" dirty="0">
                <a:latin typeface="Consolas"/>
              </a:rPr>
              <a:t>  </a:t>
            </a: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>
              <a:buNone/>
            </a:pPr>
            <a:endParaRPr lang="en-US" sz="2000" dirty="0">
              <a:latin typeface="Consolas"/>
            </a:endParaRPr>
          </a:p>
          <a:p>
            <a:pPr lvl="2">
              <a:buNone/>
            </a:pPr>
            <a:endParaRPr lang="en-US" sz="2200" b="1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8596" y="2643182"/>
            <a:ext cx="4071966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>
                <a:solidFill>
                  <a:srgbClr val="0A83C0"/>
                </a:solidFill>
              </a:rPr>
              <a:t>Example:</a:t>
            </a:r>
            <a:r>
              <a:rPr lang="en-US" sz="2000" b="1" dirty="0">
                <a:solidFill>
                  <a:srgbClr val="0A83C0"/>
                </a:solidFill>
              </a:rPr>
              <a:t>    </a:t>
            </a:r>
            <a:r>
              <a:rPr lang="en-US" sz="2000" b="1" dirty="0"/>
              <a:t>strupperdemo.py</a:t>
            </a:r>
            <a:endParaRPr lang="en-US" sz="2000" dirty="0"/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"PYTHON" 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str2=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 err="1">
                <a:solidFill>
                  <a:srgbClr val="FF00FF"/>
                </a:solidFill>
                <a:latin typeface="Consolas"/>
              </a:rPr>
              <a:t>PytHOn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>
                <a:latin typeface="Consolas"/>
              </a:rPr>
              <a:t> </a:t>
            </a:r>
          </a:p>
          <a:p>
            <a:r>
              <a:rPr lang="en-US" sz="2000" dirty="0">
                <a:solidFill>
                  <a:srgbClr val="000000"/>
                </a:solidFill>
                <a:latin typeface="Consolas"/>
              </a:rPr>
              <a:t>str3=</a:t>
            </a:r>
            <a:r>
              <a:rPr lang="en-US" sz="2000" dirty="0">
                <a:solidFill>
                  <a:srgbClr val="FF00FF"/>
                </a:solidFill>
                <a:latin typeface="Consolas"/>
              </a:rPr>
              <a:t>"PYTHON 3.7.3"</a:t>
            </a:r>
            <a:r>
              <a:rPr lang="en-US" sz="2000" dirty="0"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(str1.isupper())</a:t>
            </a:r>
            <a:r>
              <a:rPr lang="en-US" sz="2000" dirty="0"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(str2.isupper())</a:t>
            </a:r>
            <a:r>
              <a:rPr lang="en-US" sz="2000" dirty="0">
                <a:latin typeface="Consolas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>
                <a:solidFill>
                  <a:srgbClr val="000000"/>
                </a:solidFill>
                <a:latin typeface="Consolas"/>
              </a:rPr>
              <a:t>(str3.isupper())</a:t>
            </a:r>
            <a:r>
              <a:rPr lang="en-US" sz="2000" dirty="0">
                <a:latin typeface="Consola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6314" y="4298114"/>
            <a:ext cx="4214842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>
                <a:solidFill>
                  <a:srgbClr val="FFC000"/>
                </a:solidFill>
              </a:rPr>
              <a:t>Output:		</a:t>
            </a:r>
          </a:p>
          <a:p>
            <a:pPr>
              <a:buNone/>
            </a:pPr>
            <a:r>
              <a:rPr lang="en-US" sz="2000" b="1" dirty="0"/>
              <a:t>python</a:t>
            </a:r>
            <a:r>
              <a:rPr lang="en-US" sz="2000" dirty="0"/>
              <a:t> strupperldemo.py</a:t>
            </a:r>
          </a:p>
          <a:p>
            <a:pPr>
              <a:buNone/>
            </a:pPr>
            <a:r>
              <a:rPr lang="en-US" sz="2000" dirty="0"/>
              <a:t>True </a:t>
            </a:r>
          </a:p>
          <a:p>
            <a:pPr>
              <a:buNone/>
            </a:pPr>
            <a:r>
              <a:rPr lang="en-US" sz="2000" dirty="0"/>
              <a:t>False </a:t>
            </a:r>
          </a:p>
          <a:p>
            <a:pPr>
              <a:buNone/>
            </a:pPr>
            <a:r>
              <a:rPr lang="en-US" sz="2000" dirty="0"/>
              <a:t>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2042</TotalTime>
  <Words>1961</Words>
  <Application>Microsoft Office PowerPoint</Application>
  <PresentationFormat>On-screen Show (4:3)</PresentationFormat>
  <Paragraphs>312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Consolas</vt:lpstr>
      <vt:lpstr>Times New Roman</vt:lpstr>
      <vt:lpstr>Office Theme</vt:lpstr>
      <vt:lpstr>Strings in Python</vt:lpstr>
      <vt:lpstr>String Declaration</vt:lpstr>
      <vt:lpstr>Strings in Python</vt:lpstr>
      <vt:lpstr>PowerPoint Presentation</vt:lpstr>
      <vt:lpstr>String Indexing in Python</vt:lpstr>
      <vt:lpstr>PowerPoint Presentation</vt:lpstr>
      <vt:lpstr>String Operators in Python</vt:lpstr>
      <vt:lpstr>       String Operators in Python   cont…</vt:lpstr>
      <vt:lpstr>PowerPoint Presentation</vt:lpstr>
      <vt:lpstr>String Functions &amp; Methods in Python</vt:lpstr>
      <vt:lpstr> String Functions &amp; Methods in Python          Cont..</vt:lpstr>
      <vt:lpstr> String Functions &amp; Methods in Python          Cont..</vt:lpstr>
      <vt:lpstr> String Functions &amp; Methods in Python          Cont..</vt:lpstr>
      <vt:lpstr> String Functions &amp; Methods in Python          Cont..</vt:lpstr>
      <vt:lpstr> String Functions &amp; Methods in Python          Cont..</vt:lpstr>
      <vt:lpstr> String Functions &amp; Methods in Python          Cont..</vt:lpstr>
      <vt:lpstr> String Functions &amp; Methods in Python          Cont..</vt:lpstr>
      <vt:lpstr> String Functions &amp; Methods in Python          Cont..</vt:lpstr>
      <vt:lpstr> String Functions &amp; Methods in Python          Cont..</vt:lpstr>
      <vt:lpstr> String Functions &amp; Methods in Python          Cont..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Python!</dc:title>
  <dc:creator>Exam</dc:creator>
  <cp:lastModifiedBy>Admin</cp:lastModifiedBy>
  <cp:revision>325</cp:revision>
  <dcterms:created xsi:type="dcterms:W3CDTF">2020-06-10T05:05:50Z</dcterms:created>
  <dcterms:modified xsi:type="dcterms:W3CDTF">2026-06-23T17:06:34Z</dcterms:modified>
</cp:coreProperties>
</file>